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89" r:id="rId3"/>
    <p:sldId id="290" r:id="rId4"/>
    <p:sldId id="293" r:id="rId5"/>
    <p:sldId id="288" r:id="rId6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2B70BE-D945-421A-8843-7BFE17E8B716}" v="1" dt="2026-02-03T12:25:46.7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107" d="100"/>
          <a:sy n="107" d="100"/>
        </p:scale>
        <p:origin x="1212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delSld modSld">
      <pc:chgData name="Christian Camilo Cano Vasquez" userId="8c73a2a4-758b-4e34-81ed-39462e48bd92" providerId="ADAL" clId="{E6287060-0277-4BCC-9556-78F4A9113EC4}" dt="2026-02-03T12:26:13.728" v="13" actId="20577"/>
      <pc:docMkLst>
        <pc:docMk/>
      </pc:docMkLst>
      <pc:sldChg chg="modSp mod">
        <pc:chgData name="Christian Camilo Cano Vasquez" userId="8c73a2a4-758b-4e34-81ed-39462e48bd92" providerId="ADAL" clId="{E6287060-0277-4BCC-9556-78F4A9113EC4}" dt="2026-02-03T12:26:13.728" v="13" actId="20577"/>
        <pc:sldMkLst>
          <pc:docMk/>
          <pc:sldMk cId="560234623" sldId="289"/>
        </pc:sldMkLst>
        <pc:spChg chg="mod">
          <ac:chgData name="Christian Camilo Cano Vasquez" userId="8c73a2a4-758b-4e34-81ed-39462e48bd92" providerId="ADAL" clId="{E6287060-0277-4BCC-9556-78F4A9113EC4}" dt="2026-02-03T12:26:13.728" v="13" actId="20577"/>
          <ac:spMkLst>
            <pc:docMk/>
            <pc:sldMk cId="560234623" sldId="289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03T12:24:53.171" v="0" actId="47"/>
        <pc:sldMkLst>
          <pc:docMk/>
          <pc:sldMk cId="3712356003" sldId="291"/>
        </pc:sldMkLst>
      </pc:sldChg>
      <pc:sldChg chg="modSp mod">
        <pc:chgData name="Christian Camilo Cano Vasquez" userId="8c73a2a4-758b-4e34-81ed-39462e48bd92" providerId="ADAL" clId="{E6287060-0277-4BCC-9556-78F4A9113EC4}" dt="2026-02-03T12:25:25.147" v="3" actId="115"/>
        <pc:sldMkLst>
          <pc:docMk/>
          <pc:sldMk cId="3660438245" sldId="293"/>
        </pc:sldMkLst>
        <pc:spChg chg="mod">
          <ac:chgData name="Christian Camilo Cano Vasquez" userId="8c73a2a4-758b-4e34-81ed-39462e48bd92" providerId="ADAL" clId="{E6287060-0277-4BCC-9556-78F4A9113EC4}" dt="2026-02-03T12:25:25.147" v="3" actId="115"/>
          <ac:spMkLst>
            <pc:docMk/>
            <pc:sldMk cId="3660438245" sldId="293"/>
            <ac:spMk id="4" creationId="{D838A93A-BFC8-0124-93CE-FDC193435A0C}"/>
          </ac:spMkLst>
        </pc:spChg>
        <pc:spChg chg="mod">
          <ac:chgData name="Christian Camilo Cano Vasquez" userId="8c73a2a4-758b-4e34-81ed-39462e48bd92" providerId="ADAL" clId="{E6287060-0277-4BCC-9556-78F4A9113EC4}" dt="2026-02-03T12:25:18.697" v="1" actId="20577"/>
          <ac:spMkLst>
            <pc:docMk/>
            <pc:sldMk cId="3660438245" sldId="293"/>
            <ac:spMk id="16" creationId="{742C31CE-19F0-B995-0997-9A2D6A879BF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0.gi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0.2. </a:t>
            </a:r>
            <a:r>
              <a:rPr lang="es-ES" sz="3200" b="1" dirty="0" err="1">
                <a:latin typeface="Lucida Sans"/>
                <a:cs typeface="Lucida Sans"/>
              </a:rPr>
              <a:t>Couplers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4"/>
              </a:rPr>
              <a:t>https://github.com/cccanvas-upv/pic-upv-lab0.git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020_COUPLERS_Student.ipynb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Cross-Sections </a:t>
            </a:r>
            <a:r>
              <a:rPr lang="en-US" i="1" dirty="0"/>
              <a:t>to be studied: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1241591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95778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229760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48179" y="4155787"/>
            <a:ext cx="914400" cy="89266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073955" y="3856694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352355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4421819" y="5309818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239000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7663179" y="4163346"/>
            <a:ext cx="3165333" cy="48374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10954" y="3926878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7663179" y="4325314"/>
            <a:ext cx="3165333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es-ES" sz="1600" b="1" spc="-10" dirty="0">
                <a:latin typeface="Calibri"/>
                <a:cs typeface="Calibri"/>
              </a:rPr>
              <a:t>MMI </a:t>
            </a:r>
            <a:r>
              <a:rPr lang="es-ES" sz="1600" b="1" spc="-10" dirty="0" err="1">
                <a:latin typeface="Calibri"/>
                <a:cs typeface="Calibri"/>
              </a:rPr>
              <a:t>Body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7284458" y="5303772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7377675" y="5580458"/>
            <a:ext cx="3954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Multimode Interference (MMI) </a:t>
            </a:r>
            <a:r>
              <a:rPr lang="en-US" dirty="0"/>
              <a:t>coupler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1168826" y="5579058"/>
            <a:ext cx="2743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Directional </a:t>
            </a:r>
            <a:r>
              <a:rPr lang="en-US" dirty="0"/>
              <a:t>coupler (DC)</a:t>
            </a:r>
          </a:p>
        </p:txBody>
      </p:sp>
      <p:sp>
        <p:nvSpPr>
          <p:cNvPr id="7" name="object 73">
            <a:extLst>
              <a:ext uri="{FF2B5EF4-FFF2-40B4-BE49-F238E27FC236}">
                <a16:creationId xmlns:a16="http://schemas.microsoft.com/office/drawing/2014/main" id="{9404A65A-9F07-371B-17B4-56EE1381567B}"/>
              </a:ext>
            </a:extLst>
          </p:cNvPr>
          <p:cNvSpPr txBox="1"/>
          <p:nvPr/>
        </p:nvSpPr>
        <p:spPr>
          <a:xfrm>
            <a:off x="194817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64">
            <a:extLst>
              <a:ext uri="{FF2B5EF4-FFF2-40B4-BE49-F238E27FC236}">
                <a16:creationId xmlns:a16="http://schemas.microsoft.com/office/drawing/2014/main" id="{B06C28EB-4BF4-A40B-513B-ACC7E468CDC3}"/>
              </a:ext>
            </a:extLst>
          </p:cNvPr>
          <p:cNvSpPr/>
          <p:nvPr/>
        </p:nvSpPr>
        <p:spPr>
          <a:xfrm flipV="1">
            <a:off x="2911079" y="5067632"/>
            <a:ext cx="590401" cy="45719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3">
            <a:extLst>
              <a:ext uri="{FF2B5EF4-FFF2-40B4-BE49-F238E27FC236}">
                <a16:creationId xmlns:a16="http://schemas.microsoft.com/office/drawing/2014/main" id="{4601CBDA-CF6C-DA98-1398-C31497498862}"/>
              </a:ext>
            </a:extLst>
          </p:cNvPr>
          <p:cNvSpPr txBox="1"/>
          <p:nvPr/>
        </p:nvSpPr>
        <p:spPr>
          <a:xfrm>
            <a:off x="2939643" y="5090491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lang="es-ES" sz="1400" dirty="0">
                <a:latin typeface="Calibri"/>
                <a:cs typeface="Calibri"/>
              </a:rPr>
              <a:t>g</a:t>
            </a:r>
            <a:endParaRPr sz="1400" dirty="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</a:t>
            </a:r>
            <a:r>
              <a:rPr lang="es-ES" sz="1400" spc="-10" dirty="0">
                <a:latin typeface="Calibri"/>
                <a:cs typeface="Calibri"/>
              </a:rPr>
              <a:t>gap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11" name="object 62">
            <a:extLst>
              <a:ext uri="{FF2B5EF4-FFF2-40B4-BE49-F238E27FC236}">
                <a16:creationId xmlns:a16="http://schemas.microsoft.com/office/drawing/2014/main" id="{F1DAA8E2-74AD-BD39-C248-2324458F6D54}"/>
              </a:ext>
            </a:extLst>
          </p:cNvPr>
          <p:cNvSpPr/>
          <p:nvPr/>
        </p:nvSpPr>
        <p:spPr>
          <a:xfrm>
            <a:off x="7448782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3">
            <a:extLst>
              <a:ext uri="{FF2B5EF4-FFF2-40B4-BE49-F238E27FC236}">
                <a16:creationId xmlns:a16="http://schemas.microsoft.com/office/drawing/2014/main" id="{FCE9BE8C-E2F4-7CBE-236B-A2E5451F5C01}"/>
              </a:ext>
            </a:extLst>
          </p:cNvPr>
          <p:cNvSpPr txBox="1"/>
          <p:nvPr/>
        </p:nvSpPr>
        <p:spPr>
          <a:xfrm>
            <a:off x="6882764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Present Python and </a:t>
                </a:r>
                <a:r>
                  <a:rPr lang="en-US" sz="2000" dirty="0" err="1"/>
                  <a:t>GDSFactory</a:t>
                </a:r>
                <a:r>
                  <a:rPr lang="en-US" sz="2000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sz="2000" b="1" dirty="0"/>
                  <a:t>ALL EXAMPLE #1: </a:t>
                </a:r>
                <a:r>
                  <a:rPr lang="en-US" sz="2000" dirty="0"/>
                  <a:t>waveguide width 1.2 µm, gap between waveguides 0.6 µm, deep </a:t>
                </a:r>
                <a:r>
                  <a:rPr lang="en-US" sz="2000" dirty="0" err="1"/>
                  <a:t>wvg</a:t>
                </a:r>
                <a:r>
                  <a:rPr lang="en-US" sz="2000" dirty="0"/>
                  <a:t>, wavelength start and end same 1.55 µm </a:t>
                </a:r>
                <a:r>
                  <a:rPr lang="en-US" sz="2000" dirty="0">
                    <a:sym typeface="Wingdings" pitchFamily="2" charset="2"/>
                  </a:rPr>
                  <a:t> all ”Run”</a:t>
                </a: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ALL: </a:t>
                </a:r>
                <a:r>
                  <a:rPr lang="en-US" sz="2000" dirty="0"/>
                  <a:t>Follow</a:t>
                </a:r>
                <a:r>
                  <a:rPr lang="en-US" sz="2000" b="1" dirty="0"/>
                  <a:t> </a:t>
                </a:r>
                <a:r>
                  <a:rPr lang="en-US" sz="2000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607" t="-738" r="-5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Present Python and </a:t>
                </a:r>
                <a:r>
                  <a:rPr lang="en-US" sz="2000" dirty="0" err="1"/>
                  <a:t>GDSFactory</a:t>
                </a:r>
                <a:r>
                  <a:rPr lang="en-US" sz="2000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sz="2000" b="1" dirty="0"/>
                  <a:t>ALL EXAMPLE #2: </a:t>
                </a:r>
                <a:r>
                  <a:rPr lang="en-US" sz="2000" dirty="0"/>
                  <a:t>waveguide width 12 µm, gap between waveguides 0.6 µm, deep </a:t>
                </a:r>
                <a:r>
                  <a:rPr lang="en-US" sz="2000" dirty="0" err="1"/>
                  <a:t>wvg</a:t>
                </a:r>
                <a:r>
                  <a:rPr lang="en-US" sz="2000" dirty="0"/>
                  <a:t>, wavelength start and end same 1.55 µm </a:t>
                </a:r>
                <a:r>
                  <a:rPr lang="en-US" sz="2000" dirty="0">
                    <a:sym typeface="Wingdings" pitchFamily="2" charset="2"/>
                  </a:rPr>
                  <a:t> all ”Run”</a:t>
                </a: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ALL: </a:t>
                </a:r>
                <a:r>
                  <a:rPr lang="en-US" sz="2000" dirty="0"/>
                  <a:t>Follow</a:t>
                </a:r>
                <a:r>
                  <a:rPr lang="en-US" sz="2000" b="1" dirty="0"/>
                  <a:t> </a:t>
                </a:r>
                <a:r>
                  <a:rPr lang="en-US" sz="2000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u="sng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607" t="-738" r="-5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</TotalTime>
  <Words>321</Words>
  <Application>Microsoft Office PowerPoint</Application>
  <PresentationFormat>Panorámica</PresentationFormat>
  <Paragraphs>62</Paragraphs>
  <Slides>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Directional coupler cross-section in GDSFactory </vt:lpstr>
      <vt:lpstr>Learning outcome #2 – Multimode Interference (MMI) Coupler cross-section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Christian Camilo Cano Vasquez</cp:lastModifiedBy>
  <cp:revision>8</cp:revision>
  <dcterms:created xsi:type="dcterms:W3CDTF">2025-01-27T02:46:57Z</dcterms:created>
  <dcterms:modified xsi:type="dcterms:W3CDTF">2026-02-03T12:26:21Z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